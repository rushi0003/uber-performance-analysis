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a7b30ad-dd13-3ea3-9b9e-2f1cfd97dc82}">
          <p14:sldIdLst>
            <p14:sldId id="256"/>
            <p14:sldId id="257"/>
            <p14:sldId id="258"/>
          </p14:sldIdLst>
        </p14:section>
        <p14:section name="Process" id="{6cae881a-2f17-3d6a-098c-80b108b6cf24}">
          <p14:sldIdLst>
            <p14:sldId id="259"/>
            <p14:sldId id="263"/>
            <p14:sldId id="264"/>
            <p14:sldId id="265"/>
            <p14:sldId id="266"/>
            <p14:sldId id="267"/>
          </p14:sldIdLst>
        </p14:section>
        <p14:section name="Data Cleaning" id="{03378741-3bcb-2a34-d742-48ef770b3310}">
          <p14:sldIdLst>
            <p14:sldId id="260"/>
            <p14:sldId id="261"/>
            <p14:sldId id="262"/>
          </p14:sldIdLst>
        </p14:section>
        <p14:section name="Insights" id="{48640c4c-ffe4-659d-e2ce-e96d8d1a9aa8}">
          <p14:sldIdLst>
            <p14:sldId id="268"/>
            <p14:sldId id="269"/>
            <p14:sldId id="270"/>
            <p14:sldId id="271"/>
            <p14:sldId id="272"/>
          </p14:sldIdLst>
        </p14:section>
        <p14:section name="Wrap-up" id="{9bb73dd8-c169-9fe1-a397-3476ff16dda4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one line. Mention that the dataset is synthetic because ride-level Uber data is not public, and that the workflow is the same as on real company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your elevator pitch. Problem, what you did, what you found.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you started from business questions, not from tools. Mention that every number was checked in more than one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four possible outcomes of a booking. Say the mess in the data was deliberate so that cleaning could be practised.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in order. Mention the formula and the 4 km/h rule: a completed trip slower than walking speed means the trip never really 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line by line. Pick two rows: duplicates and impossible speed. Say the rest were handled the same way and are in the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the same logic was applied in Excel, SQL and Power BI, so all three show the same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one formula you are proud of, for example INDEX/MATCH to pull area type from Area_Master. The next three slides show the pivots.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pivot was built before the 17 outlier rows were removed, so totals are 96,000, not 95,983. The conclusion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colour scale makes the peaks visible at a glance. Point to the dark green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Unknown payment is mostly failed bookings, because a cancelled ride never reaches payment. Mention that clearly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ROW_NUMBER: partition by ride_id, keep row 1. Then explain the CASE bucket query. Mention the other window functions you used: LAG, RANK and NTILE.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monthly bars. Say October 2025 and October 2026 are partial months, so you ignore them for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Zone matrix: read the diagonal. Western to Western is the huge number. Then mention the east-west office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is filtered to Western Suburbs. City-wide figures are on the right. Say that clearly if asked about a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wait time to rating: a long wait lowers rating, which is why no-driver and slow pickup matter commercially.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critical thinking. Promo is only recorded on completed rides, so 100% is built into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one assumption per row, for example halving the extra no-driver gap in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honesty: limits of synthetic data, and a concrete next step. Interviewers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END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68680" y="146304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3703320"/>
            <a:ext cx="9418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236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Rushikesh Gund   |   Uber Mumbai Ride Analytics   |   Synthetic dataset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rushikesh-gund-89b8741ba/" TargetMode="External"/><Relationship Id="rId2" Type="http://schemas.openxmlformats.org/officeDocument/2006/relationships/hyperlink" Target="https://github.com/rushi0003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rushikesh-gund-89b8741ba/" TargetMode="External"/><Relationship Id="rId3" Type="http://schemas.openxmlformats.org/officeDocument/2006/relationships/hyperlink" Target="https://github.com/rushi0003" TargetMode="External"/><Relationship Id="rId1" Type="http://schemas.openxmlformats.org/officeDocument/2006/relationships/image" Target="../media/image-20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68680" y="146304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tx1"/>
                </a:solidFill>
              </a:rPr>
              <a:t>Uber Mumbai Ride Analytics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Cleaning, analysing and visualising 96K ride bookings with Excel, SQL and Power BI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572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Rushikesh Gund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u="sng" dirty="0">
                <a:solidFill>
                  <a:schemeClr val="accent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linkedin.com/in/rushikesh-gund-89b8741ba</a:t>
            </a:r>
            <a:endParaRPr lang="en-US" sz="14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github.com/rushi0003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47688" y="1984248"/>
            <a:ext cx="4809744" cy="2798064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Dashboard overvie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11680"/>
            <a:ext cx="47548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project in 30 seconds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417320"/>
            <a:ext cx="5458383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83702"/>
            <a:ext cx="554642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An operations team wants to know where demand is, why rides fail, and what rain and festivals do to service.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43911"/>
            <a:ext cx="5458383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 did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10293"/>
            <a:ext cx="554642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Cleaned 96,055 booking rows, answered 16 questions in SQL, built Excel pivots and a 4-page Power BI dashboard.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70502"/>
            <a:ext cx="5458383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 found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836883"/>
            <a:ext cx="554642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About 1 in 5 requests fails, and the causes are fixable: heavy rain, very short trips and a few outer suburbs.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39930" y="1417320"/>
            <a:ext cx="4489960" cy="1352123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60026" y="1522001"/>
            <a:ext cx="4137806" cy="67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80.8%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160026" y="2201552"/>
            <a:ext cx="4137806" cy="513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Completion rate (77,530 of 95,983 bookings)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39930" y="2943911"/>
            <a:ext cx="4489960" cy="1352123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60026" y="3048591"/>
            <a:ext cx="4137806" cy="67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₹21.54M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160026" y="3728142"/>
            <a:ext cx="4137806" cy="513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Gross booking value (about ₹2.15 crore)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939930" y="4470502"/>
            <a:ext cx="4489960" cy="1352123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60026" y="4575182"/>
            <a:ext cx="4137806" cy="67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18.1%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7160026" y="5254733"/>
            <a:ext cx="4137806" cy="513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Uber take rate after driver payouts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Five business questions guided the whole project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question was answered in at least one tool, so the numbers can be cross-checked.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35404"/>
          <a:ext cx="10652650" cy="914400"/>
        </p:xfrm>
        <a:graphic>
          <a:graphicData uri="http://schemas.openxmlformats.org/drawingml/2006/table">
            <a:tbl>
              <a:tblPr/>
              <a:tblGrid>
                <a:gridCol w="4049768"/>
                <a:gridCol w="4313883"/>
                <a:gridCol w="22889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Business question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Where I answered 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Tools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Where is demand concentrated?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Area pivot, Q5, map and zone flow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Excel, SQL, Power BI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Why do rides fail?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Q8, Q14, cancellation reasons page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SQL, Power BI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What does rain do to service?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Weather pivot, Q7, weather charts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Excel, SQL, Power BI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Are promos worth the cost?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Q10, promo table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SQL, Power BI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Which drivers and customers matter most?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Q11, Q12, customer segment chart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SQL, Power BI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7240" y="5255605"/>
            <a:ext cx="10564612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 kept the scope simple on purpose: clear questions, clean data, honest numbers.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dataset: one row per ride request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Success and failure are both recorded, so I could study demand and service quality together.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1679021"/>
            <a:ext cx="255311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7336" y="1783702"/>
            <a:ext cx="2200961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96,055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97336" y="2539146"/>
            <a:ext cx="2200961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Raw booking rows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506431" y="1679021"/>
            <a:ext cx="255311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26527" y="1783702"/>
            <a:ext cx="2200961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726527" y="2539146"/>
            <a:ext cx="2200961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Columns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3336463"/>
            <a:ext cx="255311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97336" y="3441143"/>
            <a:ext cx="2200961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48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97336" y="4196588"/>
            <a:ext cx="2200961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Localities in 4 zones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06431" y="3336463"/>
            <a:ext cx="255311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26527" y="3441143"/>
            <a:ext cx="2200961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12 months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726527" y="4196588"/>
            <a:ext cx="2200961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15 Oct 2025 to 14 Oct 2026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99738" y="1679021"/>
            <a:ext cx="4930152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each row holds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99738" y="2115190"/>
            <a:ext cx="4930152" cy="314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Booking, customer, driver and vehicle type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Pickup and drop area with coordinates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Distance, duration, wait time and weather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Fare, surge, toll, promo, discount and payment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Outcome: Completed, Cancelled by Rider, Cancelled by Driver or No Driver Found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cleaning: four steps, nothing hidden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Rule I followed: never edit the raw sheet and write down every change.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1679021"/>
            <a:ext cx="2553115" cy="2224461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7336" y="1853489"/>
            <a:ext cx="440192" cy="43616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7336" y="1853489"/>
            <a:ext cx="440192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97336" y="2420508"/>
            <a:ext cx="2200961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Inspect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97336" y="2813060"/>
            <a:ext cx="220096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Check duplicates, blanks, zero distances and odd speeds.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88824" y="1679021"/>
            <a:ext cx="2553115" cy="2224461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08920" y="1853489"/>
            <a:ext cx="440192" cy="43616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8920" y="1853489"/>
            <a:ext cx="440192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08920" y="2420508"/>
            <a:ext cx="2200961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Remove duplicates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708920" y="2813060"/>
            <a:ext cx="220096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Keep one row per ride_id (earliest booking).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00407" y="1679021"/>
            <a:ext cx="2553115" cy="2224461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0503" y="1853489"/>
            <a:ext cx="440192" cy="43616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20503" y="1853489"/>
            <a:ext cx="440192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20503" y="2420508"/>
            <a:ext cx="2200961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Flag bad trips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20503" y="2813060"/>
            <a:ext cx="220096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Completed rides with 0 km or speed under 4 km/h.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11991" y="1679021"/>
            <a:ext cx="2553115" cy="2224461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32087" y="1853489"/>
            <a:ext cx="440192" cy="43616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32087" y="1853489"/>
            <a:ext cx="440192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132087" y="2420508"/>
            <a:ext cx="2200961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Fill and log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132087" y="2813060"/>
            <a:ext cx="2200961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Blank weather / payment become "Unknown". Log all changes.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296034"/>
            <a:ext cx="7043075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The check I used in Excel (column AC)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77240" y="4732203"/>
            <a:ext cx="9860304" cy="6106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97336" y="4732203"/>
            <a:ext cx="9508151" cy="61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=IF(AND(W2="Completed",OR(L2=0,L2/(M2/60)&lt;4)),"Bad","OK")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quality log: what I found and what I did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Most issues were small, but a few would have quietly inflated the KPIs.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91788"/>
          <a:ext cx="10652650" cy="914400"/>
        </p:xfrm>
        <a:graphic>
          <a:graphicData uri="http://schemas.openxmlformats.org/drawingml/2006/table">
            <a:tbl>
              <a:tblPr/>
              <a:tblGrid>
                <a:gridCol w="3521537"/>
                <a:gridCol w="2993307"/>
                <a:gridCol w="41378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Issue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Rows affected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Action taken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Duplicate ride IDs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55 (0.06%)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Removed, kept earliest booking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GPS glitch (distance = 0)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Flagged and excluded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Impossible speed (under 4 km/h)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 (₹6,650 fake fare)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Excluded: trip never ended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Missing weather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about 0.25%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Filled with "Unknown"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Missing payment method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about 0.3%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Filled "Unknown", skipped in payment trend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Missing latitude / longitude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about 0.4%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Kept for KPIs, no impact on totals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Customer rating blank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32% of rides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Left blank: riders did not rate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Driver ID blank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No Driver Found rides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Valid by design, not an error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Before and after: 96,055 rows became 95,983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72 rows removed, about 0.07% of the data. Small in count, big for trust.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1679021"/>
            <a:ext cx="250909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7336" y="1783702"/>
            <a:ext cx="2156942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96,055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97336" y="2539146"/>
            <a:ext cx="2156942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Raw rows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62412" y="1679021"/>
            <a:ext cx="250909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82508" y="1783702"/>
            <a:ext cx="2156942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− 55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682508" y="2539146"/>
            <a:ext cx="2156942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Duplicates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47584" y="1679021"/>
            <a:ext cx="250909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7680" y="1783702"/>
            <a:ext cx="2156942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− 17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67680" y="2539146"/>
            <a:ext cx="2156942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Outliers (10 GPS + 7 speed)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832757" y="1679021"/>
            <a:ext cx="2509095" cy="1482974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52853" y="1783702"/>
            <a:ext cx="2156942" cy="74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95,983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052853" y="2539146"/>
            <a:ext cx="2156942" cy="56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Clean bookings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554547"/>
            <a:ext cx="5282306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947099"/>
            <a:ext cx="10036381" cy="2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Fake fares from trips that never ended would inflate GBV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Double-counted rides would inflate bookings and completion rate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step is logged, so any number can be traced back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Excel, SQL and Power BI use the same logic, so all three match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Excel: helper columns, KPI sheet and pivots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set the sheet up once so anyone on the team can pivot in minutes.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679021"/>
            <a:ext cx="4666037" cy="4012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Helper columns: hour, weekday, month, time band, fare per km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Area type pulled from Area_Master with INDEX/MATCH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KPI sheet with COUNTIFS, SUMIFS and AVERAGEIFS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Pivots for weather, weekday x hour and payment mix (next slides)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What-if model for a short-trip driver bonus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795431" y="1679021"/>
            <a:ext cx="5282306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 few formulas I used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795431" y="2071573"/>
            <a:ext cx="5634460" cy="261701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15527" y="2246041"/>
            <a:ext cx="5282306" cy="30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=HOUR(B2)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type (lookup)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=INDEX(Area_Master!$E:$E,MATCH(G2,Area_Master!$A:$A,0))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rides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=COUNTIFS(Rides[booking_status],"Completed")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%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=Completed rides / Total bookings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Excel pivot: heavy rain hurts every measure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Weather pivot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6567667" cy="3858354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Excel pivot on 96,000 de-duplicated book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6514844" cy="380601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362908"/>
            <a:ext cx="6514844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Excel pivot on 96,000 de-duplicated bookings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644238" y="1504554"/>
            <a:ext cx="3785653" cy="4012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Heavy rain: 9,910 bookings (about 10% of volume)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Completion 68.55% vs 82.75% in clear weather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Wait time 10.3 vs 5.7 min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Surge 1.32 vs 1.06; rating 4.22 vs 4.46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Average fare ₹372 vs ₹266 in clear weather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569177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9177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1355" y="569177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what: rain is the clearest case for a driver rain bonus and forecast-based positioning.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Excel heatmap: two weekday peaks, Saturday is busiest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Weekday x hour pivot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6567667" cy="396352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Excel pivot with colour scale (bookings by weekday and hou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6514844" cy="391118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468081"/>
            <a:ext cx="6514844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Excel pivot with colour scale (bookings by weekday and hour)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644238" y="1504554"/>
            <a:ext cx="3785653" cy="4012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Weekday peaks at 8-9 am and 6-7 pm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Biggest single cell: Wednesday 6 pm (1,288 bookings)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Saturday is the busiest day (15,482); Monday the quietest (12,881)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Saturday evening stays high until about 8 pm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569177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9177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1355" y="569177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what: schedule driver incentives and push notifications only in these peak slots.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Excel pivot: UPI leads and cash keeps shrinking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Payment mix across all bookings, by month, vehicle type and airport vs non-airport.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5511206" cy="314546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Monthly payment mix piv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5458383" cy="309312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49403" y="1478384"/>
            <a:ext cx="3750437" cy="2740309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8" name="Image 1" descr="Airport vs non-airport payment m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815" y="1504554"/>
            <a:ext cx="3697614" cy="26879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4650016"/>
            <a:ext cx="6162690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Pivots: monthly payment mix and airport vs non-airport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950287"/>
            <a:ext cx="10652650" cy="113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UPI is 41.9% of bookings, up from 37.6% (Oct 25) to 45.7% (Oct 26)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Cash fell from 15.9% to 11.9%; Autos have the highest cash share (28.4%)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Airport rides: card 29.3% vs 15.4% elsewhere, cash only 4.2%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Unknown (19.5%) is close to the failed-booking share, since failed rides have no payment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SQL: one clean view, 16 questions answered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query reads from rides_clean, so there is a single source of truth.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635404"/>
            <a:ext cx="5282306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Q2: the clean view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323661" y="1635404"/>
            <a:ext cx="5282306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Q8: why drivers cancel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7240" y="2027956"/>
            <a:ext cx="5370344" cy="287871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97336" y="2158807"/>
            <a:ext cx="5018191" cy="261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rides_clean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r.*, ROW_NUMBER() OVER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ride_id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booking_datetime) AS 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uber_mumbai_rides r) 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rn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(booking_status &lt;&gt; 'Completed'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(distance_km &gt; 0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distance_km/(trip_duration_min/60.0) &gt;= 4));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3661" y="2027956"/>
            <a:ext cx="5106229" cy="287871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9738" y="2158807"/>
            <a:ext cx="4754075" cy="261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distance_km &lt; 2.5 THEN 'Under 2.5 km'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distance_km &lt; 8 THEN '2.5 - 8 km'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distance_km &lt; 18 THEN '8 - 18 km'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'Above 18 km' END AS bucket,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bookings,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SUM(CASE WHEN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booking_status = 'Cancelled by Driver'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1 ELSE 0 END) / COUNT(*), 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AS driver_cancel_pct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rides_clean GROUP BY 1 ORDER BY 1;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124755"/>
            <a:ext cx="10652650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CTEs and window functions: ROW_NUMBER, LAG, RANK, NTILE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Topics: KPIs, growth, areas, hours, weather, cancellations, promos, drivers, customers, routes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Anomaly rule: a day with a no-driver rate above 12%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Dashboard page 1: the business is growing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Completed rides rose about 26% from November to September.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6743744" cy="3890626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Page 1: Executiv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6690921" cy="3838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403903"/>
            <a:ext cx="6690921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Page 1: Executive overview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776295" y="1548171"/>
            <a:ext cx="3697614" cy="383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Completed rides: 5.9K in Nov to 7.4K in Sep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Oct 25 and Oct 26 are partial months, so I ignore them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Go and Auto are over half of all rides (32.9% + 20.4%)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XL and Premier are only 25% of rides but about 35% of fare value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569177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9177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1355" y="569177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Take rate is 18.1%, so for every ₹100 a rider pays, Uber keeps about ₹18.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Dashboard page 2: demand sits in the Western Suburbs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Where riders start matters more than where they end.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6743744" cy="3890626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Page 2: Ride demand and geogra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6690921" cy="3838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403903"/>
            <a:ext cx="6690921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Page 2: Ride demand and geography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776295" y="1548171"/>
            <a:ext cx="3697614" cy="383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Western Suburbs: 49% of completed rides. South Mumbai: 14%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26,129 rides start and end inside the Western Suburbs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Eastern ↔ Western is the biggest cross-zone flow (about 6,600 each way)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Outer areas (Govandi, Mankhurd, Kandivali, Mulund) wait 7.7 to 8.1 min vs 6.2 city average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569177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9177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1355" y="569177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what: move driver incentives to long-wait areas before adding new drivers.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Dashboard page 3: peaks and rain break the service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Two weekday peaks, and heavy rain hurts on every measure.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6743744" cy="3890626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Page 3: Time and weather (filter: Western Suburb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6690921" cy="3838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403903"/>
            <a:ext cx="6690921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Page 3: Time and weather (filter: Western Suburbs)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776295" y="1548171"/>
            <a:ext cx="3697614" cy="383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Weekday peaks: 8-10 am and 5-8 pm (52% of weekday bookings)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Surge hits about 25% of rides at peaks vs about 11% at midday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Heavy rain city-wide: completion 68.5% vs 82.7% clear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Wait 10.3 vs 5.7 min; no-driver cases 10.2% vs 3.3%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569177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9177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1355" y="569177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what: time-bound peak incentives and a rain-readiness plan cost far less than all-day offers.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Dashboard page 4: why rides fail and who matters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Drivers cancel when the trip does not feel worth it, and riders punish long waits.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0828" y="1478384"/>
            <a:ext cx="6743744" cy="3890626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age 0" descr="Page 4: Cancellations and 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4554"/>
            <a:ext cx="6690921" cy="3838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403903"/>
            <a:ext cx="6690921" cy="2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Page 4: Cancellations and customers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776295" y="1548171"/>
            <a:ext cx="3697614" cy="383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Top failure reason: no drivers available (4.0K), then driver taking too long (2.2K)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Drivers cancel 14.0% of trips under 2.5 km vs 7.5% on normal trips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Rating drops from 4.48 (short wait) to 4.01 (15+ min wait)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Loyal customers (9+ rides) bring 41% of revenue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569177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9177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1355" y="569177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what: fix supply at peak and rain first; then reward short trips and loyal riders.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promo number that looks too good, and why I questioned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Promo rides show 100% completion. That is not proof that promos work.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7240" y="1679021"/>
            <a:ext cx="3433499" cy="1395740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7336" y="1783702"/>
            <a:ext cx="3081345" cy="69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9.9%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97336" y="2488551"/>
            <a:ext cx="3081345" cy="530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of completed rides use a promo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0835" y="1679021"/>
            <a:ext cx="3433499" cy="1395740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50931" y="1783702"/>
            <a:ext cx="3081345" cy="69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₹3.04 lakh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650931" y="2488551"/>
            <a:ext cx="3081345" cy="530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total discount, about 1.4% of gross fare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84430" y="1679021"/>
            <a:ext cx="3345460" cy="1395740"/>
          </a:xfrm>
          <a:prstGeom prst="rect">
            <a:avLst/>
          </a:prstGeom>
          <a:solidFill>
            <a:schemeClr val="bg2">
              <a:alpha val="75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04526" y="1783702"/>
            <a:ext cx="2993307" cy="69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₹217 vs ₹284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304526" y="2488551"/>
            <a:ext cx="2993307" cy="530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average fare with vs without promo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467313"/>
            <a:ext cx="5282306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 concluded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859865"/>
            <a:ext cx="6162690" cy="2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Promo is logged only on completed rides, so 100% completion is a data artefact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Promo rides are smaller trips, so promos attract low-value rides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Promos are cheap, so the risk is low, but the benefit is not proven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468161" y="3467313"/>
            <a:ext cx="3961729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 would do next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468161" y="3859865"/>
            <a:ext cx="3961729" cy="1744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Limit promos to off-peak hours and first rides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Run an A/B test with a control group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Recommendations and estimated impact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8385"/>
            <a:ext cx="10652650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Estimates are scenario numbers on this sample. I would confirm each one with an A/B test.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9021"/>
          <a:ext cx="10652650" cy="914400"/>
        </p:xfrm>
        <a:graphic>
          <a:graphicData uri="http://schemas.openxmlformats.org/drawingml/2006/table">
            <a:tbl>
              <a:tblPr/>
              <a:tblGrid>
                <a:gridCol w="1760769"/>
                <a:gridCol w="3169384"/>
                <a:gridCol w="3169384"/>
                <a:gridCol w="25531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Est. impact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Heavy rain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Completion 68.5% vs 82.7%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Rain bonus, pre-position drivers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~339 rides, ₹1.26 lakh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Short trips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Driver cancels 14.0% vs 7.5%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Short-trip bonus or minimum fare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~663 rides, ₹0.67 lakh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Outer suburbs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Driver cancels 11.9% vs 8.5%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Return-trip incentive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~256 rides, ₹0.71 lakh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Failure days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5 days above 12% no-driver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No-driver alert at 12%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~377 bookings, ₹1.05 lakh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Peak hours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52% of weekday demand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Incentives in peak slots only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Lower incentive spend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" y="4993904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4993904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41355" y="4993904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scenario recovery: about ₹3.7 lakh GBV a year on the sample.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4572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I learned and what I would improve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04554"/>
            <a:ext cx="5106229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 learned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897106"/>
            <a:ext cx="5106229" cy="314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Validate data first; it changed my KPIs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clean logic keeps Excel, SQL and Power BI matching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insight needs a so-what and a rupee value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Question numbers that look too good (promo 100%)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11700" y="1504554"/>
            <a:ext cx="5018191" cy="30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Limits and next steps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11700" y="1897106"/>
            <a:ext cx="5018191" cy="314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 is synthetic, so impact is an estimate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incentives with A/B experiments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driver profitability and demand forecasting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Automate refresh and alerts in Power BI Service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5255605"/>
            <a:ext cx="10036381" cy="479786"/>
          </a:xfrm>
          <a:prstGeom prst="rect">
            <a:avLst/>
          </a:prstGeom>
          <a:solidFill>
            <a:schemeClr val="bg2">
              <a:alpha val="80000"/>
            </a:schemeClr>
          </a:solidFill>
          <a:ln w="635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5255605"/>
            <a:ext cx="70431" cy="4797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1355" y="5255605"/>
            <a:ext cx="9684228" cy="479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Tools: Excel (formulas, pivots, what-if)  |  SQL (CTEs, window functions)  |  Power BI (star schema, DAX)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23620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er sign on a car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74904"/>
            <a:ext cx="11274552" cy="610819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37033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2286000" y="47091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Rushikesh Gund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linkedin.com/in/rushikesh-gund-89b8741ba</a:t>
            </a:r>
            <a:endParaRPr lang="en-US" sz="1400" dirty="0"/>
          </a:p>
          <a:p>
            <a:pPr algn="ctr" indent="0" marL="0">
              <a:buNone/>
            </a:pPr>
            <a:r>
              <a:rPr lang="en-US" sz="1500" u="sng" dirty="0">
                <a:solidFill>
                  <a:schemeClr val="accent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github.com/rushi0003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deDark">
  <a:themeElements>
    <a:clrScheme name="RideDark">
      <a:dk1>
        <a:srgbClr val="F5F6FF"/>
      </a:dk1>
      <a:lt1>
        <a:srgbClr val="120B3A"/>
      </a:lt1>
      <a:dk2>
        <a:srgbClr val="B8BCE0"/>
      </a:dk2>
      <a:lt2>
        <a:srgbClr val="2A2262"/>
      </a:lt2>
      <a:accent1>
        <a:srgbClr val="C6F432"/>
      </a:accent1>
      <a:accent2>
        <a:srgbClr val="22D3EE"/>
      </a:accent2>
      <a:accent3>
        <a:srgbClr val="8B8FC7"/>
      </a:accent3>
      <a:accent4>
        <a:srgbClr val="34D399"/>
      </a:accent4>
      <a:accent5>
        <a:srgbClr val="FB7185"/>
      </a:accent5>
      <a:accent6>
        <a:srgbClr val="E879F9"/>
      </a:accent6>
      <a:hlink>
        <a:srgbClr val="22D3EE"/>
      </a:hlink>
      <a:folHlink>
        <a:srgbClr val="B8BCE0"/>
      </a:folHlink>
    </a:clrScheme>
    <a:fontScheme name="Ride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2026-10-24T02:57:00Z</dcterms:created>
  <dcterms:modified xsi:type="dcterms:W3CDTF">2026-10-24T02:57:00Z</dcterms:modified>
</cp:coreProperties>
</file>